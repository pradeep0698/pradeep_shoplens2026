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-glow">
            <a:extLst>
              <a:ext uri="{FF2B5EF4-FFF2-40B4-BE49-F238E27FC236}">
                <a16:creationId xmlns:a16="http://schemas.microsoft.com/office/drawing/2014/main" id="{EDB95A77-D046-4879-8691-29FBB934AAE8}"/>
              </a:ext>
            </a:extLst>
          </p:cNvPr>
          <p:cNvSpPr>
            <a:spLocks noGrp="1"/>
          </p:cNvSpPr>
          <p:nvPr/>
        </p:nvSpPr>
        <p:spPr>
          <a:xfrm>
            <a:off x="8382000" y="266700"/>
            <a:ext cx="3048000" cy="3048000"/>
          </a:xfrm>
          <a:prstGeom prst="roundRect">
            <a:avLst>
              <a:gd name="adj" fmla="val 50000"/>
            </a:avLst>
          </a:prstGeom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6C4AAB97-7198-4455-844B-9EDBF2EBBD1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7D3A3"/>
                </a:solidFill>
              </a:defRPr>
            </a:pPr>
            <a:r>
              <a:rPr sz="1050" b="1">
                <a:solidFill>
                  <a:srgbClr val="37D3A3"/>
                </a:solidFill>
              </a:rPr>
              <a:t>Voice assistant roadmap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63E9DD3-B27A-484F-88BA-92B3E684A61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04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One profile entry point today, richer personalization over time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6624FB5-4B88-4B02-9441-067DD1110BB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66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B6C2D9"/>
                </a:solidFill>
              </a:defRPr>
            </a:pPr>
            <a:r>
              <a:rPr sz="1350">
                <a:solidFill>
                  <a:srgbClr val="B6C2D9"/>
                </a:solidFill>
              </a:rPr>
              <a:t>Start with a guided voice option inside profile settings, then let the assistant keep learning from real shopping conversations.</a:t>
            </a:r>
          </a:p>
        </p:txBody>
      </p:sp>
      <p:sp>
        <p:nvSpPr>
          <p:cNvPr id="5" name="image-frame">
            <a:extLst>
              <a:ext uri="{FF2B5EF4-FFF2-40B4-BE49-F238E27FC236}">
                <a16:creationId xmlns:a16="http://schemas.microsoft.com/office/drawing/2014/main" id="{754ED485-08A5-453E-8C88-690DC63ED694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6000750" cy="3924300"/>
          </a:xfrm>
          <a:prstGeom prst="roundRect">
            <a:avLst>
              <a:gd name="adj" fmla="val 5825"/>
            </a:avLst>
          </a:prstGeom>
          <a:solidFill>
            <a:srgbClr val="121C31"/>
          </a:solidFill>
          <a:ln w="11430">
            <a:solidFill>
              <a:srgbClr val="2635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5715" y="2505075"/>
            <a:ext cx="4600920" cy="3562350"/>
          </a:xfrm>
          <a:prstGeom prst="roundRect">
            <a:avLst>
              <a:gd name="adj" fmla="val 4278"/>
            </a:avLst>
          </a:prstGeom>
        </p:spPr>
      </p:pic>
      <p:sp>
        <p:nvSpPr>
          <p:cNvPr id="7" name="image-caption-title">
            <a:extLst>
              <a:ext uri="{FF2B5EF4-FFF2-40B4-BE49-F238E27FC236}">
                <a16:creationId xmlns:a16="http://schemas.microsoft.com/office/drawing/2014/main" id="{194A2B5A-ABC2-4459-871E-12C8B1322E26}"/>
              </a:ext>
            </a:extLst>
          </p:cNvPr>
          <p:cNvSpPr>
            <a:spLocks noGrp="1"/>
          </p:cNvSpPr>
          <p:nvPr/>
        </p:nvSpPr>
        <p:spPr>
          <a:xfrm>
            <a:off x="828675" y="6096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8FAFC"/>
                </a:solidFill>
              </a:defRPr>
            </a:pPr>
            <a:r>
              <a:rPr sz="1125" b="1" dirty="0">
                <a:solidFill>
                  <a:srgbClr val="F8FAFC"/>
                </a:solidFill>
              </a:rPr>
              <a:t>Profile settings + voice onboarding</a:t>
            </a:r>
          </a:p>
        </p:txBody>
      </p:sp>
      <p:sp>
        <p:nvSpPr>
          <p:cNvPr id="9" name="ideas-title">
            <a:extLst>
              <a:ext uri="{FF2B5EF4-FFF2-40B4-BE49-F238E27FC236}">
                <a16:creationId xmlns:a16="http://schemas.microsoft.com/office/drawing/2014/main" id="{0C8F46C5-DAE0-474C-93C4-A7021A0937ED}"/>
              </a:ext>
            </a:extLst>
          </p:cNvPr>
          <p:cNvSpPr>
            <a:spLocks noGrp="1"/>
          </p:cNvSpPr>
          <p:nvPr/>
        </p:nvSpPr>
        <p:spPr>
          <a:xfrm>
            <a:off x="7200900" y="24765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Future updates to voice chat</a:t>
            </a:r>
          </a:p>
        </p:txBody>
      </p:sp>
      <p:sp>
        <p:nvSpPr>
          <p:cNvPr id="10" name="idea-card-1">
            <a:extLst>
              <a:ext uri="{FF2B5EF4-FFF2-40B4-BE49-F238E27FC236}">
                <a16:creationId xmlns:a16="http://schemas.microsoft.com/office/drawing/2014/main" id="{22EEED75-0BED-4336-AFBE-0C7CDF2359FF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4305300" cy="1104900"/>
          </a:xfrm>
          <a:prstGeom prst="roundRect">
            <a:avLst>
              <a:gd name="adj" fmla="val 13793"/>
            </a:avLst>
          </a:prstGeom>
          <a:solidFill>
            <a:srgbClr val="172036"/>
          </a:solidFill>
          <a:ln w="11906">
            <a:solidFill>
              <a:srgbClr val="2431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idea-number-1">
            <a:extLst>
              <a:ext uri="{FF2B5EF4-FFF2-40B4-BE49-F238E27FC236}">
                <a16:creationId xmlns:a16="http://schemas.microsoft.com/office/drawing/2014/main" id="{92F3E9A0-85C4-427F-84FC-55EA1ED8B896}"/>
              </a:ext>
            </a:extLst>
          </p:cNvPr>
          <p:cNvSpPr>
            <a:spLocks noGrp="1"/>
          </p:cNvSpPr>
          <p:nvPr/>
        </p:nvSpPr>
        <p:spPr>
          <a:xfrm>
            <a:off x="7372350" y="3028950"/>
            <a:ext cx="457200" cy="457200"/>
          </a:xfrm>
          <a:prstGeom prst="ellipse">
            <a:avLst/>
          </a:prstGeom>
          <a:solidFill>
            <a:srgbClr val="37D3A3"/>
          </a:solidFill>
          <a:ln w="9525">
            <a:solidFill>
              <a:srgbClr val="37D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dea-number-text-1">
            <a:extLst>
              <a:ext uri="{FF2B5EF4-FFF2-40B4-BE49-F238E27FC236}">
                <a16:creationId xmlns:a16="http://schemas.microsoft.com/office/drawing/2014/main" id="{3911C9D6-20F8-417F-91A4-BB1D2743319A}"/>
              </a:ext>
            </a:extLst>
          </p:cNvPr>
          <p:cNvSpPr>
            <a:spLocks noGrp="1"/>
          </p:cNvSpPr>
          <p:nvPr/>
        </p:nvSpPr>
        <p:spPr>
          <a:xfrm>
            <a:off x="7372350" y="30670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D1425"/>
                </a:solidFill>
              </a:defRPr>
            </a:pPr>
            <a:r>
              <a:rPr sz="1650" b="1">
                <a:solidFill>
                  <a:srgbClr val="0D1425"/>
                </a:solidFill>
              </a:rPr>
              <a:t>1</a:t>
            </a:r>
          </a:p>
        </p:txBody>
      </p:sp>
      <p:sp>
        <p:nvSpPr>
          <p:cNvPr id="13" name="idea-title-1">
            <a:extLst>
              <a:ext uri="{FF2B5EF4-FFF2-40B4-BE49-F238E27FC236}">
                <a16:creationId xmlns:a16="http://schemas.microsoft.com/office/drawing/2014/main" id="{61A114C6-D5F1-4B43-BD47-F768028E07D9}"/>
              </a:ext>
            </a:extLst>
          </p:cNvPr>
          <p:cNvSpPr>
            <a:spLocks noGrp="1"/>
          </p:cNvSpPr>
          <p:nvPr/>
        </p:nvSpPr>
        <p:spPr>
          <a:xfrm>
            <a:off x="8001000" y="30289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Keep it in profile settings</a:t>
            </a:r>
          </a:p>
        </p:txBody>
      </p:sp>
      <p:sp>
        <p:nvSpPr>
          <p:cNvPr id="14" name="idea-body-1">
            <a:extLst>
              <a:ext uri="{FF2B5EF4-FFF2-40B4-BE49-F238E27FC236}">
                <a16:creationId xmlns:a16="http://schemas.microsoft.com/office/drawing/2014/main" id="{AD844A10-0BA9-4BC3-BB92-190EA2CFA5D6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6C2D9"/>
                </a:solidFill>
              </a:defRPr>
            </a:pPr>
            <a:r>
              <a:rPr sz="1125">
                <a:solidFill>
                  <a:srgbClr val="B6C2D9"/>
                </a:solidFill>
              </a:rPr>
              <a:t>Use voice at the start of profile setup while still showing users they can edit everything manually below.</a:t>
            </a:r>
          </a:p>
        </p:txBody>
      </p:sp>
      <p:sp>
        <p:nvSpPr>
          <p:cNvPr id="15" name="idea-card-2">
            <a:extLst>
              <a:ext uri="{FF2B5EF4-FFF2-40B4-BE49-F238E27FC236}">
                <a16:creationId xmlns:a16="http://schemas.microsoft.com/office/drawing/2014/main" id="{1100DEB1-5091-41D9-AF0B-E8D2248F0093}"/>
              </a:ext>
            </a:extLst>
          </p:cNvPr>
          <p:cNvSpPr>
            <a:spLocks noGrp="1"/>
          </p:cNvSpPr>
          <p:nvPr/>
        </p:nvSpPr>
        <p:spPr>
          <a:xfrm>
            <a:off x="7200900" y="4114800"/>
            <a:ext cx="4305300" cy="1104900"/>
          </a:xfrm>
          <a:prstGeom prst="roundRect">
            <a:avLst>
              <a:gd name="adj" fmla="val 13793"/>
            </a:avLst>
          </a:prstGeom>
          <a:solidFill>
            <a:srgbClr val="172036"/>
          </a:solidFill>
          <a:ln w="11906">
            <a:solidFill>
              <a:srgbClr val="2431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idea-number-2">
            <a:extLst>
              <a:ext uri="{FF2B5EF4-FFF2-40B4-BE49-F238E27FC236}">
                <a16:creationId xmlns:a16="http://schemas.microsoft.com/office/drawing/2014/main" id="{385E1613-4959-47AB-B175-9BDCDD8D4768}"/>
              </a:ext>
            </a:extLst>
          </p:cNvPr>
          <p:cNvSpPr>
            <a:spLocks noGrp="1"/>
          </p:cNvSpPr>
          <p:nvPr/>
        </p:nvSpPr>
        <p:spPr>
          <a:xfrm>
            <a:off x="7372350" y="4286250"/>
            <a:ext cx="457200" cy="457200"/>
          </a:xfrm>
          <a:prstGeom prst="ellipse">
            <a:avLst/>
          </a:prstGeom>
          <a:solidFill>
            <a:srgbClr val="37D3A3"/>
          </a:solidFill>
          <a:ln w="9525">
            <a:solidFill>
              <a:srgbClr val="37D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dea-number-text-2">
            <a:extLst>
              <a:ext uri="{FF2B5EF4-FFF2-40B4-BE49-F238E27FC236}">
                <a16:creationId xmlns:a16="http://schemas.microsoft.com/office/drawing/2014/main" id="{0916A7BF-AE94-44D8-9C62-154F841D5985}"/>
              </a:ext>
            </a:extLst>
          </p:cNvPr>
          <p:cNvSpPr>
            <a:spLocks noGrp="1"/>
          </p:cNvSpPr>
          <p:nvPr/>
        </p:nvSpPr>
        <p:spPr>
          <a:xfrm>
            <a:off x="7372350" y="43243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D1425"/>
                </a:solidFill>
              </a:defRPr>
            </a:pPr>
            <a:r>
              <a:rPr sz="1650" b="1">
                <a:solidFill>
                  <a:srgbClr val="0D1425"/>
                </a:solidFill>
              </a:rPr>
              <a:t>2</a:t>
            </a:r>
          </a:p>
        </p:txBody>
      </p:sp>
      <p:sp>
        <p:nvSpPr>
          <p:cNvPr id="18" name="idea-title-2">
            <a:extLst>
              <a:ext uri="{FF2B5EF4-FFF2-40B4-BE49-F238E27FC236}">
                <a16:creationId xmlns:a16="http://schemas.microsoft.com/office/drawing/2014/main" id="{9877FA2F-4114-4BBE-9754-24C364407FAB}"/>
              </a:ext>
            </a:extLst>
          </p:cNvPr>
          <p:cNvSpPr>
            <a:spLocks noGrp="1"/>
          </p:cNvSpPr>
          <p:nvPr/>
        </p:nvSpPr>
        <p:spPr>
          <a:xfrm>
            <a:off x="8001000" y="42862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Learn from live search chat</a:t>
            </a:r>
          </a:p>
        </p:txBody>
      </p:sp>
      <p:sp>
        <p:nvSpPr>
          <p:cNvPr id="19" name="idea-body-2">
            <a:extLst>
              <a:ext uri="{FF2B5EF4-FFF2-40B4-BE49-F238E27FC236}">
                <a16:creationId xmlns:a16="http://schemas.microsoft.com/office/drawing/2014/main" id="{BA9FA438-6BCF-46F3-9D85-A00E42EBC280}"/>
              </a:ext>
            </a:extLst>
          </p:cNvPr>
          <p:cNvSpPr>
            <a:spLocks noGrp="1"/>
          </p:cNvSpPr>
          <p:nvPr/>
        </p:nvSpPr>
        <p:spPr>
          <a:xfrm>
            <a:off x="8001000" y="45910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6C2D9"/>
                </a:solidFill>
              </a:defRPr>
            </a:pPr>
            <a:r>
              <a:rPr sz="1125">
                <a:solidFill>
                  <a:srgbClr val="B6C2D9"/>
                </a:solidFill>
              </a:rPr>
              <a:t>As users talk to find products, ShopLens can keep refining preferences in the background to personalize future results.</a:t>
            </a:r>
          </a:p>
        </p:txBody>
      </p:sp>
      <p:sp>
        <p:nvSpPr>
          <p:cNvPr id="20" name="idea-card-3">
            <a:extLst>
              <a:ext uri="{FF2B5EF4-FFF2-40B4-BE49-F238E27FC236}">
                <a16:creationId xmlns:a16="http://schemas.microsoft.com/office/drawing/2014/main" id="{06395B9B-856B-4299-AA00-6753E04F0E7F}"/>
              </a:ext>
            </a:extLst>
          </p:cNvPr>
          <p:cNvSpPr>
            <a:spLocks noGrp="1"/>
          </p:cNvSpPr>
          <p:nvPr/>
        </p:nvSpPr>
        <p:spPr>
          <a:xfrm>
            <a:off x="7200900" y="5372100"/>
            <a:ext cx="4305300" cy="1104900"/>
          </a:xfrm>
          <a:prstGeom prst="roundRect">
            <a:avLst>
              <a:gd name="adj" fmla="val 13793"/>
            </a:avLst>
          </a:prstGeom>
          <a:solidFill>
            <a:srgbClr val="172036"/>
          </a:solidFill>
          <a:ln w="11906">
            <a:solidFill>
              <a:srgbClr val="2431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idea-number-3">
            <a:extLst>
              <a:ext uri="{FF2B5EF4-FFF2-40B4-BE49-F238E27FC236}">
                <a16:creationId xmlns:a16="http://schemas.microsoft.com/office/drawing/2014/main" id="{F7F4585D-8F26-4119-BCD4-2E67653CF044}"/>
              </a:ext>
            </a:extLst>
          </p:cNvPr>
          <p:cNvSpPr>
            <a:spLocks noGrp="1"/>
          </p:cNvSpPr>
          <p:nvPr/>
        </p:nvSpPr>
        <p:spPr>
          <a:xfrm>
            <a:off x="7372350" y="5543550"/>
            <a:ext cx="457200" cy="457200"/>
          </a:xfrm>
          <a:prstGeom prst="ellipse">
            <a:avLst/>
          </a:prstGeom>
          <a:solidFill>
            <a:srgbClr val="37D3A3"/>
          </a:solidFill>
          <a:ln w="9525">
            <a:solidFill>
              <a:srgbClr val="37D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dea-number-text-3">
            <a:extLst>
              <a:ext uri="{FF2B5EF4-FFF2-40B4-BE49-F238E27FC236}">
                <a16:creationId xmlns:a16="http://schemas.microsoft.com/office/drawing/2014/main" id="{5C4348CB-00AD-494E-9B9E-1A08C7AA4AE3}"/>
              </a:ext>
            </a:extLst>
          </p:cNvPr>
          <p:cNvSpPr>
            <a:spLocks noGrp="1"/>
          </p:cNvSpPr>
          <p:nvPr/>
        </p:nvSpPr>
        <p:spPr>
          <a:xfrm>
            <a:off x="7372350" y="55816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D1425"/>
                </a:solidFill>
              </a:defRPr>
            </a:pPr>
            <a:r>
              <a:rPr sz="1650" b="1">
                <a:solidFill>
                  <a:srgbClr val="0D1425"/>
                </a:solidFill>
              </a:rPr>
              <a:t>3</a:t>
            </a:r>
          </a:p>
        </p:txBody>
      </p:sp>
      <p:sp>
        <p:nvSpPr>
          <p:cNvPr id="23" name="idea-title-3">
            <a:extLst>
              <a:ext uri="{FF2B5EF4-FFF2-40B4-BE49-F238E27FC236}">
                <a16:creationId xmlns:a16="http://schemas.microsoft.com/office/drawing/2014/main" id="{97303FB7-5B69-4252-8EC4-294485C72E82}"/>
              </a:ext>
            </a:extLst>
          </p:cNvPr>
          <p:cNvSpPr>
            <a:spLocks noGrp="1"/>
          </p:cNvSpPr>
          <p:nvPr/>
        </p:nvSpPr>
        <p:spPr>
          <a:xfrm>
            <a:off x="8001000" y="55435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Add sizes and measurements</a:t>
            </a:r>
          </a:p>
        </p:txBody>
      </p:sp>
      <p:sp>
        <p:nvSpPr>
          <p:cNvPr id="24" name="idea-body-3">
            <a:extLst>
              <a:ext uri="{FF2B5EF4-FFF2-40B4-BE49-F238E27FC236}">
                <a16:creationId xmlns:a16="http://schemas.microsoft.com/office/drawing/2014/main" id="{4FD0D141-6081-4E52-8B28-3EC83E5EE1E9}"/>
              </a:ext>
            </a:extLst>
          </p:cNvPr>
          <p:cNvSpPr>
            <a:spLocks noGrp="1"/>
          </p:cNvSpPr>
          <p:nvPr/>
        </p:nvSpPr>
        <p:spPr>
          <a:xfrm>
            <a:off x="8001000" y="58483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6C2D9"/>
                </a:solidFill>
              </a:defRPr>
            </a:pPr>
            <a:r>
              <a:rPr sz="1125">
                <a:solidFill>
                  <a:srgbClr val="B6C2D9"/>
                </a:solidFill>
              </a:rPr>
              <a:t>Store fit and sizing details in the profile so users can go straight from discovery to purchase without re-entering size info.</a:t>
            </a:r>
          </a:p>
        </p:txBody>
      </p:sp>
    </p:spTree>
    <p:extLst>
      <p:ext uri="{BB962C8B-B14F-4D97-AF65-F5344CB8AC3E}">
        <p14:creationId xmlns:p14="http://schemas.microsoft.com/office/powerpoint/2010/main" val="8463817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DocSecurity>0</DocSecurity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Bijal a</cp:lastModifiedBy>
  <cp:revision>1</cp:revision>
  <dcterms:created xsi:type="dcterms:W3CDTF">2026-06-29T18:17:29Z</dcterms:created>
  <dcterms:modified xsi:type="dcterms:W3CDTF">2026-06-29T18:19:33Z</dcterms:modified>
</cp:coreProperties>
</file>